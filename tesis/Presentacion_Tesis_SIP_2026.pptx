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DE UN SISTEMA INSTRUMENTAL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PSICOTÉCNICO (SIP)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detección anticipatoria del abandono escolar en educación superior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2487168"/>
            <a:ext cx="4572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70048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Pardo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Doctorado en Tecnología Educativa · UAQ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Directora: Dra. Ileana Cruz Sánchez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08960" y="4160520"/>
            <a:ext cx="292608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41605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Basada en Diseño  ·  Teoría de la Actividad  ·  ML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2926080" cy="2514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problema: abandono escolar en América Latina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DTE · UAQ · Luis Pardo  |  SIP para detección anticipatoria del abandono escolar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201168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30.9%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536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abandono EMS México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2011680" cy="11887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240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994K+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0040" y="2862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que abandonaron 2024–25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06040" y="822960"/>
            <a:ext cx="2011680" cy="1188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606040" y="1536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PIB en pérdidas económicas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06040" y="2148840"/>
            <a:ext cx="2011680" cy="1188720"/>
          </a:xfrm>
          <a:prstGeom prst="rect">
            <a:avLst/>
          </a:prstGeom>
          <a:solidFill>
            <a:srgbClr val="6B3A8B"/>
          </a:solidFill>
          <a:ln w="12700">
            <a:solidFill>
              <a:srgbClr val="6B3A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6040" y="2240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5.2M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2606040" y="2862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inscripción post-COVID 2020–21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777240"/>
            <a:ext cx="3977640" cy="2880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8412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las variables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psicoemocionales?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1481328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predictivos existentes trabajan con variables académicas y socioeconómicas, ignorando la dimensión psicoemocional del estudiante.
</a:t>
            </a:r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brechas identificadas </a:t>
            </a:r>
            <a:pPr indent="0" marL="0">
              <a:buNone/>
            </a:pPr>
            <a:r>
              <a:rPr lang="en-US" sz="12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literatura: autoeficacia, motivación, pertenencia, regulación emocional, burnout, resiliencia y más.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2926080" cy="2514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 de investigación y objetivos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DTE · UAQ · Luis Pardo  |  SIP para detección anticipatoria del abandono escolar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8503920" cy="1325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82296" cy="1325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22960"/>
            <a:ext cx="81838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puede el diseño iterativo de un SIP —que integra variables psicoemocionales, algoritmos de ML y mediaciones instrumentales desde la Teoría de la Actividad— producir detección anticipatoria del abandono escolar en educación superior y generar conocimiento transferible?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2697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31720"/>
            <a:ext cx="64008" cy="10241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140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679192"/>
            <a:ext cx="24963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Cartografiar conceptualmente el SIP mediante la metodología de Tobón (2012)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08960" y="2331720"/>
            <a:ext cx="2697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2331720"/>
            <a:ext cx="64008" cy="1024128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4140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2679192"/>
            <a:ext cx="24963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 del SIP mediante análisis epistemológico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97880" y="2331720"/>
            <a:ext cx="2697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97880" y="2331720"/>
            <a:ext cx="64008" cy="10241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4140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2679192"/>
            <a:ext cx="24963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SIPTech: stacking ensemble con variables psicoemocionales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520440"/>
            <a:ext cx="39776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20440"/>
            <a:ext cx="64008" cy="1024128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0273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867912"/>
            <a:ext cx="3776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y rediseñar el SIP documentando principios de diseño transferibles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0" y="3520440"/>
            <a:ext cx="41605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0" y="3520440"/>
            <a:ext cx="64008" cy="10241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36027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26280" y="3867912"/>
            <a:ext cx="3959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3 artefactos transferibles: concepto + repo GitHub + caso SIPTech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2926080" cy="2514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DTE · UAQ · Luis Pardo  |  SIP para detección anticipatoria del abandono escolar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el SIP?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850392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49808"/>
            <a:ext cx="82296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Instrumental Psicotécnico (SIP): categoría analítica transdisciplinar que articula un artefacto computacional (modelo ML), un esquema de utilización (mediaciones instrumentales) y una génesis instrumental (proceso de apropiación) para la detección anticipatoria del abandono escolar.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2697480" cy="2560320"/>
          </a:xfrm>
          <a:prstGeom prst="rect">
            <a:avLst/>
          </a:prstGeom>
          <a:solidFill>
            <a:srgbClr val="1B3A5C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28800"/>
            <a:ext cx="2697480" cy="4572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ARTEFACTO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computacional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SIPTech: Stacking Ensemble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 + XGBoost + GB + FNN)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2697480" cy="2560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A8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828800"/>
            <a:ext cx="2697480" cy="457200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ESQUEMA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33172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Mediaciones instrumentales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vinculan al investigador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objeto de estudio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1828800"/>
            <a:ext cx="2697480" cy="2560320"/>
          </a:xfrm>
          <a:prstGeom prst="rect">
            <a:avLst/>
          </a:prstGeom>
          <a:solidFill>
            <a:srgbClr val="1B3A5C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828800"/>
            <a:ext cx="2697480" cy="457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GÉNESIS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233172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iterativo 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apropiación y rediseño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instrumento (IBD)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71800" y="28529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A020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852160" y="28529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A020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2926080" cy="2514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Cartografía Conceptual del SIP — Tobón (2012)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DTE · UAQ · Luis Pardo  |  SIP para detección anticipatoria del abandono escolar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4160520" cy="38404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CLASE INMEDIATA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261872"/>
            <a:ext cx="64008" cy="135331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075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Educativa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1645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como contexto de génesis instrumental; SIPTech como artefacto digital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816352"/>
            <a:ext cx="64008" cy="135331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620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 Cognitiva Aplicada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32004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cognitiva, autoeficacia, modelos mentales como variables de diseño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777240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777240"/>
            <a:ext cx="4160520" cy="384048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777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CLASE SIGUIENTE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261872"/>
            <a:ext cx="64008" cy="896112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298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Actividad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37760" y="15727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Triángulo S→A→C; SIP como instrumento mediador entre sujeto y objeto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286000"/>
            <a:ext cx="64008" cy="896112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322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37760" y="25968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Cuadrante de Pasteur: investigación básica + aplicada en ciclos iterativos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310128"/>
            <a:ext cx="64008" cy="896112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3467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Posthumanismo Crítico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0" y="362102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Braidotti: zoe-bios-techno; potestas/potentia; agencia distribuida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51960" y="2240280"/>
            <a:ext cx="320040" cy="822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24528" y="2286000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2926080" cy="2514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teórico transdisciplinar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DTE · UAQ · Luis Pardo  |  SIP para detección anticipatoria del abandono escolar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4160520" cy="3474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777240"/>
            <a:ext cx="64008" cy="18288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813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Teoría de la Actividad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1124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Engeström (1987); Béguin &amp; Rabardel (2000)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139903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SIP como instrumento que media la actividad del investigador. Génesis instrumental: instrumentalización → instrumentación. Triángulo sujeto–instrumento–objeto.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777240"/>
            <a:ext cx="4160520" cy="347472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777240"/>
            <a:ext cx="64008" cy="1828800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813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IBD — Investigación Basada en Diseño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1124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McKenney &amp; Reeves (2018); De Benito &amp; Ibáñez (2016)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64608" y="139903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Cuadrante de Pasteur: investigación rigurosa orientada a problemas reales. 4 ciclos iterativos de diseño-evaluación-rediseño como estructura metodológica.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88920"/>
            <a:ext cx="4160520" cy="3474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788920"/>
            <a:ext cx="64008" cy="1828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825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Posthumanismo Crítico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" y="3136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Braidotti (2019); Giroux (2011, 2015)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" y="341071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Zoe-bios-techno: la vida que excede las categorías humanistas. Potestas (poder disciplinario) vs. potentia (fuerza afirmativa). SIP como artefacto post-humanista.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27889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788920"/>
            <a:ext cx="4160520" cy="347472"/>
          </a:xfrm>
          <a:prstGeom prst="rect">
            <a:avLst/>
          </a:prstGeom>
          <a:solidFill>
            <a:srgbClr val="6B3A8B"/>
          </a:solidFill>
          <a:ln w="12700">
            <a:solidFill>
              <a:srgbClr val="6B3A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788920"/>
            <a:ext cx="64008" cy="1828800"/>
          </a:xfrm>
          <a:prstGeom prst="rect">
            <a:avLst/>
          </a:prstGeom>
          <a:solidFill>
            <a:srgbClr val="6B3A8B"/>
          </a:solidFill>
          <a:ln w="12700">
            <a:solidFill>
              <a:srgbClr val="6B3A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825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Enseñanza en la Era Digital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4608" y="3136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Bates (2022)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64608" y="341071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VUCA y competencias digitales. Mediación triple: pedagógica, tecnológica y comunicativa. El SIP como instrumento de formación en contextos de incertidumbre.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2926080" cy="2514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6 núcleos de interrelación psicoemocional · Instrumento 165 ítems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DTE · UAQ · Luis Pardo  |  SIP para detección anticipatoria del abandono escolar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743200" cy="38404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04672"/>
            <a:ext cx="64008" cy="18288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85953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 Tríada de autopercepción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9768" y="1133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ítems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1353312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Autoestima → Autoconcepto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Autoeficacia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80467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04672"/>
            <a:ext cx="2743200" cy="384048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804672"/>
            <a:ext cx="64008" cy="1828800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85953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  Eje motivacional-volitivo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10128" y="1133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ítems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10128" y="1353312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intrínseca ↔ Compromiso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Perseverancia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80467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804672"/>
            <a:ext cx="27432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804672"/>
            <a:ext cx="64008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85953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 Sistema de regulación emocional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90488" y="1133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ítems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90488" y="1353312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Estrés/ansiedad ↔ Regulación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Burnout académico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27706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770632"/>
            <a:ext cx="274320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770632"/>
            <a:ext cx="64008" cy="1828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282549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 Red de apoyo social multidimensional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9768" y="30998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ítems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9768" y="3319272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↔ Pares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Docentes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00400" y="27706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2770632"/>
            <a:ext cx="2743200" cy="38404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2770632"/>
            <a:ext cx="64008" cy="182880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82549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  Sistema de resiliencia académica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310128" y="30998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ítems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10128" y="3319272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Perseverancia ↔ Búsqueda de apoyo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Regulación afecto negativo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080760" y="27706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80760" y="2770632"/>
            <a:ext cx="2743200" cy="38404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80760" y="2770632"/>
            <a:ext cx="64008" cy="18288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0488" y="282549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  Afiliación institucional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190488" y="30998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ítems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90488" y="3319272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Sentido de pertenencia ↔ Clima escolar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Apoyo institucional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20040" y="4590288"/>
            <a:ext cx="8503920" cy="2377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59028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completo: 165 ítems Likert 1–5 + SF-12 (salud mental) + 13 ítems de intención de abandono  ·  Diseñado para edades 15–30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2926080" cy="2514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DTE · UAQ · Luis Pardo  |  SIP para detección anticipatoria del abandono escolar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Metodología: IBD + Stacking Ensemble (SIPTech)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749808"/>
            <a:ext cx="2011680" cy="3200400"/>
          </a:xfrm>
          <a:prstGeom prst="rect">
            <a:avLst/>
          </a:prstGeom>
          <a:solidFill>
            <a:srgbClr val="1B3A5C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49808"/>
            <a:ext cx="2011680" cy="4114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234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Fundamentación teórica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psicoemocional + Cartografía SIP + PRISMA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31720" y="214884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A020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68880" y="749808"/>
            <a:ext cx="2011680" cy="3200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A8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749808"/>
            <a:ext cx="2011680" cy="411480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749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1234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SIP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60320" y="187452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instrumento 165 ítems + diseño SIPTech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80560" y="214884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A02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17720" y="749808"/>
            <a:ext cx="2011680" cy="3200400"/>
          </a:xfrm>
          <a:prstGeom prst="rect">
            <a:avLst/>
          </a:prstGeom>
          <a:solidFill>
            <a:srgbClr val="1B3A5C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749808"/>
            <a:ext cx="2011680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749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1234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09160" y="187452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Recolección de datos + entrenamiento del modelo ML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29400" y="214884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A020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766560" y="749808"/>
            <a:ext cx="2011680" cy="3200400"/>
          </a:xfrm>
          <a:prstGeom prst="rect">
            <a:avLst/>
          </a:prstGeom>
          <a:solidFill>
            <a:srgbClr val="1B3A5C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749808"/>
            <a:ext cx="20116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749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1234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Evaluación–Rediseño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0" y="187452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+ SHAP + principios de diseño transferibles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4114800"/>
            <a:ext cx="850392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1330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SIPTech — Stacking Ensemble:  </a:t>
            </a:r>
            <a:pPr indent="0" marL="0">
              <a:buNone/>
            </a:pPr>
            <a:r>
              <a:rPr lang="en-US" sz="12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1: RF + XGBoost + Gradient Boosting  ·  Capa 2: FNN meta-learner  ·  Validación: SHAP + cross-validation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2926080" cy="2514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Contribución principal y pipeline de artículos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DTE · UAQ · Luis Pardo  |  SIP para detección anticipatoria del abandono escolar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8503920" cy="13716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82296" cy="13716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229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Contribución central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170432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método basado en IBD para desarrollar sistemas de ML —operacionalizados como skills de IA generativa— para la anticipación temprana del abandono escolar. La distinción conceptual DATA MINING → DATA MEANING como principio de diseño original.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59152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59152"/>
            <a:ext cx="2743200" cy="38404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377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  ·  Cartografía Conceptual del SIP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3192" y="2788920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AT + IBD + Posthumanismo. Ejes de Tobón. Categoría analítica transdisciplinar.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3192" y="4279392"/>
            <a:ext cx="2606040" cy="2743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4279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359152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2359152"/>
            <a:ext cx="2743200" cy="384048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2377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  ·  Diseño IBD del SIP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73552" y="2788920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iterativo y principios de diseño transferibles. Ciclos de evaluación-rediseño.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73552" y="4279392"/>
            <a:ext cx="2606040" cy="274320"/>
          </a:xfrm>
          <a:prstGeom prst="rect">
            <a:avLst/>
          </a:prstGeom>
          <a:solidFill>
            <a:srgbClr val="D4E2F0"/>
          </a:solidFill>
          <a:ln w="12700">
            <a:solidFill>
              <a:srgbClr val="D4E2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4279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2359152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2359152"/>
            <a:ext cx="274320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2377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  ·  Validación SIPTech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53912" y="2788920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 + variables psicoemocionales. Métricas + SHAP + Explainable AI.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53912" y="4279392"/>
            <a:ext cx="2606040" cy="274320"/>
          </a:xfrm>
          <a:prstGeom prst="rect">
            <a:avLst/>
          </a:prstGeom>
          <a:solidFill>
            <a:srgbClr val="D4E2F0"/>
          </a:solidFill>
          <a:ln w="12700">
            <a:solidFill>
              <a:srgbClr val="D4E2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4279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3246120"/>
            <a:ext cx="4572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SIP no es un algoritmo.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una forma de relacionarse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el conocimiento.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data mining a data meaning.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40156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Pardo  ·  DTE/UAQ  ·  2026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soulness356@gmail.com  ·  Lumina Labstech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Tesis Doctoral — SIP Luis Pardo</dc:title>
  <dc:subject>PptxGenJS Presentation</dc:subject>
  <dc:creator>PptxGenJS</dc:creator>
  <cp:lastModifiedBy>PptxGenJS</cp:lastModifiedBy>
  <cp:revision>1</cp:revision>
  <dcterms:created xsi:type="dcterms:W3CDTF">2026-05-08T13:45:27Z</dcterms:created>
  <dcterms:modified xsi:type="dcterms:W3CDTF">2026-05-08T13:45:27Z</dcterms:modified>
</cp:coreProperties>
</file>